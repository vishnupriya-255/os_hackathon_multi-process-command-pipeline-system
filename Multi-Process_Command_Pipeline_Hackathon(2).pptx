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C06DE36-663B-313F-0A8B-F3C1E40282DC}">
          <p14:sldIdLst>
            <p14:sldId id="256"/>
            <p14:sldId id="257"/>
            <p14:sldId id="258"/>
          </p14:sldIdLst>
        </p14:section>
        <p14:section name="Design" id="{2D045E87-8592-D9DA-2D75-2334FD5C7DD0}">
          <p14:sldIdLst>
            <p14:sldId id="259"/>
            <p14:sldId id="260"/>
            <p14:sldId id="261"/>
            <p14:sldId id="262"/>
          </p14:sldIdLst>
        </p14:section>
        <p14:section name="Demo" id="{B99BBE59-9CAC-026D-782A-D652DFAEB8B9}">
          <p14:sldIdLst>
            <p14:sldId id="264"/>
          </p14:sldIdLst>
        </p14:section>
        <p14:section name="Wrap-up" id="{E1914057-E023-1801-2B44-13376F198F7D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423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problem: how do independent processes pass data to each other? Our answer is a pipeline of two processes connected by a pipe.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IPC in one breath. Processes cannot read each other's memory, so the OS gives them a pipe. ls | grep .c is the classic example and it is exactly what our demo runs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goals: teach the concept, make it interactive, make the data flow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user types two commands, the first one's output goes through the pipe, the second one transforms it, and we display each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1 is the producer. It supports ls, ls -l, pwd, whoami, date, echo and cat over a small simulated set of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2 is the consumer. It receives the pipe's data and filters, counts, sorts or transforms it. Unsupported commands return a clear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theory behind the demo. Be upfront that the browser demo simulates the behaviour, and these five calls are what a real Unix shell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takeaways: it works, it is transparent, and it fails politely.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Summarise, then point to next steps: longer pipelines and a real C implementation with fork and pipe.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371600"/>
            <a:ext cx="76809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4681728"/>
            <a:ext cx="6766560" cy="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365760"/>
            <a:ext cx="76809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5262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5262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hnupriya-255/os_hackathon_Multi-Process-Command-Pipeline-Syste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TR dark"/>
          <p:cNvSpPr/>
          <p:nvPr/>
        </p:nvSpPr>
        <p:spPr>
          <a:xfrm rot="10800000">
            <a:off x="7178040" y="0"/>
            <a:ext cx="1965960" cy="1097280"/>
          </a:xfrm>
          <a:prstGeom prst="rtTriangl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orner TR light"/>
          <p:cNvSpPr/>
          <p:nvPr/>
        </p:nvSpPr>
        <p:spPr>
          <a:xfrm rot="10800000">
            <a:off x="7315200" y="0"/>
            <a:ext cx="1828800" cy="1005840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Corner BL dark"/>
          <p:cNvSpPr/>
          <p:nvPr/>
        </p:nvSpPr>
        <p:spPr>
          <a:xfrm>
            <a:off x="0" y="4046220"/>
            <a:ext cx="1965960" cy="1097280"/>
          </a:xfrm>
          <a:prstGeom prst="rtTriangl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orner BL light"/>
          <p:cNvSpPr/>
          <p:nvPr/>
        </p:nvSpPr>
        <p:spPr>
          <a:xfrm>
            <a:off x="0" y="4137660"/>
            <a:ext cx="1828800" cy="1005840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9451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MULTI-PROCESS COMMAND PIPELINE SYSTEM</a:t>
            </a:r>
            <a:endParaRPr lang="en-US" sz="4000" dirty="0"/>
          </a:p>
        </p:txBody>
      </p:sp>
      <p:sp>
        <p:nvSpPr>
          <p:cNvPr id="7" name="Subtitle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A41030-4B91-AB21-28C5-3D155CDC4967}"/>
              </a:ext>
            </a:extLst>
          </p:cNvPr>
          <p:cNvSpPr txBox="1"/>
          <p:nvPr/>
        </p:nvSpPr>
        <p:spPr>
          <a:xfrm>
            <a:off x="5845126" y="4482286"/>
            <a:ext cx="37982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2520030348-SUGGULA SRI VISHNUPRIYA</a:t>
            </a:r>
          </a:p>
          <a:p>
            <a:r>
              <a:rPr lang="en-IN" sz="1100" dirty="0"/>
              <a:t>2520030298-VUNGARALA MOUKTHIKA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3657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1"/>
                </a:solidFill>
              </a:rPr>
              <a:t>BACKGROUND</a:t>
            </a:r>
            <a:endParaRPr lang="en-US" sz="3400" dirty="0"/>
          </a:p>
        </p:txBody>
      </p:sp>
      <p:sp>
        <p:nvSpPr>
          <p:cNvPr id="3" name="Background bullets"/>
          <p:cNvSpPr txBox="1"/>
          <p:nvPr/>
        </p:nvSpPr>
        <p:spPr>
          <a:xfrm>
            <a:off x="822960" y="146304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process runs in its own isolated memory space.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pipe is a one-way channel: one process writes, another reads.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Shells chain commands this way, for example ls | grep .c</a:t>
            </a:r>
            <a:endParaRPr lang="en-US" sz="1600" dirty="0"/>
          </a:p>
        </p:txBody>
      </p:sp>
      <p:sp>
        <p:nvSpPr>
          <p:cNvPr id="4" name="Terminal card"/>
          <p:cNvSpPr/>
          <p:nvPr/>
        </p:nvSpPr>
        <p:spPr>
          <a:xfrm>
            <a:off x="5029200" y="1463040"/>
            <a:ext cx="3383280" cy="201168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rminal text"/>
          <p:cNvSpPr txBox="1"/>
          <p:nvPr/>
        </p:nvSpPr>
        <p:spPr>
          <a:xfrm>
            <a:off x="5303520" y="16916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| grep .c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pipeline.c</a:t>
            </a:r>
            <a:endParaRPr lang="en-US" sz="1600" dirty="0"/>
          </a:p>
        </p:txBody>
      </p:sp>
      <p:sp>
        <p:nvSpPr>
          <p:cNvPr id="6" name="Terminal caption"/>
          <p:cNvSpPr txBox="1"/>
          <p:nvPr/>
        </p:nvSpPr>
        <p:spPr>
          <a:xfrm>
            <a:off x="5029200" y="3611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Output of ls flows into grep through a pipe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5262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3657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1"/>
                </a:solidFill>
              </a:rPr>
              <a:t>PROJECT GOALS</a:t>
            </a:r>
            <a:endParaRPr lang="en-US" sz="3400" dirty="0"/>
          </a:p>
        </p:txBody>
      </p:sp>
      <p:sp>
        <p:nvSpPr>
          <p:cNvPr id="3" name="Goal card 1"/>
          <p:cNvSpPr/>
          <p:nvPr/>
        </p:nvSpPr>
        <p:spPr>
          <a:xfrm>
            <a:off x="731520" y="1371600"/>
            <a:ext cx="76809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Goal number 1"/>
          <p:cNvSpPr txBox="1"/>
          <p:nvPr/>
        </p:nvSpPr>
        <p:spPr>
          <a:xfrm>
            <a:off x="960120" y="13716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1.</a:t>
            </a:r>
            <a:endParaRPr lang="en-US" sz="3600" dirty="0"/>
          </a:p>
        </p:txBody>
      </p:sp>
      <p:sp>
        <p:nvSpPr>
          <p:cNvPr id="5" name="Goal text 1"/>
          <p:cNvSpPr txBox="1"/>
          <p:nvPr/>
        </p:nvSpPr>
        <p:spPr>
          <a:xfrm>
            <a:off x="1737360" y="13716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Show how two independent processes communicate through a pipe.</a:t>
            </a:r>
            <a:endParaRPr lang="en-US" sz="1600" dirty="0"/>
          </a:p>
        </p:txBody>
      </p:sp>
      <p:sp>
        <p:nvSpPr>
          <p:cNvPr id="6" name="Goal card 2"/>
          <p:cNvSpPr/>
          <p:nvPr/>
        </p:nvSpPr>
        <p:spPr>
          <a:xfrm>
            <a:off x="731520" y="2377440"/>
            <a:ext cx="76809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Goal number 2"/>
          <p:cNvSpPr txBox="1"/>
          <p:nvPr/>
        </p:nvSpPr>
        <p:spPr>
          <a:xfrm>
            <a:off x="960120" y="23774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2.</a:t>
            </a:r>
            <a:endParaRPr lang="en-US" sz="3600" dirty="0"/>
          </a:p>
        </p:txBody>
      </p:sp>
      <p:sp>
        <p:nvSpPr>
          <p:cNvPr id="8" name="Goal text 2"/>
          <p:cNvSpPr txBox="1"/>
          <p:nvPr/>
        </p:nvSpPr>
        <p:spPr>
          <a:xfrm>
            <a:off x="1737360" y="23774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Let anyone type a pair of commands and see the result instantly.</a:t>
            </a:r>
            <a:endParaRPr lang="en-US" sz="1600" dirty="0"/>
          </a:p>
        </p:txBody>
      </p:sp>
      <p:sp>
        <p:nvSpPr>
          <p:cNvPr id="9" name="Goal card 3"/>
          <p:cNvSpPr/>
          <p:nvPr/>
        </p:nvSpPr>
        <p:spPr>
          <a:xfrm>
            <a:off x="731520" y="3383280"/>
            <a:ext cx="76809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Goal number 3"/>
          <p:cNvSpPr txBox="1"/>
          <p:nvPr/>
        </p:nvSpPr>
        <p:spPr>
          <a:xfrm>
            <a:off x="960120" y="33832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3.</a:t>
            </a:r>
            <a:endParaRPr lang="en-US" sz="3600" dirty="0"/>
          </a:p>
        </p:txBody>
      </p:sp>
      <p:sp>
        <p:nvSpPr>
          <p:cNvPr id="11" name="Goal text 3"/>
          <p:cNvSpPr txBox="1"/>
          <p:nvPr/>
        </p:nvSpPr>
        <p:spPr>
          <a:xfrm>
            <a:off x="1737360" y="33832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Make every stage visible: Process 1 output, pipe, Process 2, final output.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5262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3657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1"/>
                </a:solidFill>
              </a:rPr>
              <a:t>HOW IT WORKS</a:t>
            </a:r>
            <a:endParaRPr lang="en-US" sz="3400" dirty="0"/>
          </a:p>
        </p:txBody>
      </p:sp>
      <p:sp>
        <p:nvSpPr>
          <p:cNvPr id="3" name="Flow box 1"/>
          <p:cNvSpPr/>
          <p:nvPr/>
        </p:nvSpPr>
        <p:spPr>
          <a:xfrm>
            <a:off x="685800" y="1600200"/>
            <a:ext cx="160020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Flow label 1"/>
          <p:cNvSpPr txBox="1"/>
          <p:nvPr/>
        </p:nvSpPr>
        <p:spPr>
          <a:xfrm>
            <a:off x="685800" y="16002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PROCESS 1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first command</a:t>
            </a:r>
            <a:endParaRPr lang="en-US" sz="1600" dirty="0"/>
          </a:p>
        </p:txBody>
      </p:sp>
      <p:sp>
        <p:nvSpPr>
          <p:cNvPr id="5" name="Flow arrow 1"/>
          <p:cNvSpPr/>
          <p:nvPr/>
        </p:nvSpPr>
        <p:spPr>
          <a:xfrm>
            <a:off x="2331720" y="2240280"/>
            <a:ext cx="3657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Flow box 2"/>
          <p:cNvSpPr/>
          <p:nvPr/>
        </p:nvSpPr>
        <p:spPr>
          <a:xfrm>
            <a:off x="2743200" y="1600200"/>
            <a:ext cx="1600200" cy="1280160"/>
          </a:xfrm>
          <a:prstGeom prst="roundRect">
            <a:avLst>
              <a:gd name="adj" fmla="val 571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Flow label 2"/>
          <p:cNvSpPr txBox="1"/>
          <p:nvPr/>
        </p:nvSpPr>
        <p:spPr>
          <a:xfrm>
            <a:off x="2743200" y="16002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PIPE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output → input</a:t>
            </a:r>
            <a:endParaRPr lang="en-US" sz="1600" dirty="0"/>
          </a:p>
        </p:txBody>
      </p:sp>
      <p:sp>
        <p:nvSpPr>
          <p:cNvPr id="8" name="Flow arrow 2"/>
          <p:cNvSpPr/>
          <p:nvPr/>
        </p:nvSpPr>
        <p:spPr>
          <a:xfrm>
            <a:off x="4389120" y="2240280"/>
            <a:ext cx="3657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Flow box 3"/>
          <p:cNvSpPr/>
          <p:nvPr/>
        </p:nvSpPr>
        <p:spPr>
          <a:xfrm>
            <a:off x="4800600" y="1600200"/>
            <a:ext cx="160020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Flow label 3"/>
          <p:cNvSpPr txBox="1"/>
          <p:nvPr/>
        </p:nvSpPr>
        <p:spPr>
          <a:xfrm>
            <a:off x="4800600" y="16002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PROCESS 2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second command</a:t>
            </a:r>
            <a:endParaRPr lang="en-US" sz="1600" dirty="0"/>
          </a:p>
        </p:txBody>
      </p:sp>
      <p:sp>
        <p:nvSpPr>
          <p:cNvPr id="11" name="Flow arrow 3"/>
          <p:cNvSpPr/>
          <p:nvPr/>
        </p:nvSpPr>
        <p:spPr>
          <a:xfrm>
            <a:off x="6446520" y="2240280"/>
            <a:ext cx="3657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Flow box 4"/>
          <p:cNvSpPr/>
          <p:nvPr/>
        </p:nvSpPr>
        <p:spPr>
          <a:xfrm>
            <a:off x="6858000" y="1600200"/>
            <a:ext cx="1600200" cy="128016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Flow label 4"/>
          <p:cNvSpPr txBox="1"/>
          <p:nvPr/>
        </p:nvSpPr>
        <p:spPr>
          <a:xfrm>
            <a:off x="6858000" y="16002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OUTPUT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shown to user</a:t>
            </a:r>
            <a:endParaRPr lang="en-US" sz="1600" dirty="0"/>
          </a:p>
        </p:txBody>
      </p:sp>
      <p:sp>
        <p:nvSpPr>
          <p:cNvPr id="14" name="Flow explanation"/>
          <p:cNvSpPr txBox="1"/>
          <p:nvPr/>
        </p:nvSpPr>
        <p:spPr>
          <a:xfrm>
            <a:off x="822960" y="32918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Press Run Pipeline and both stages execute in order.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text that Process 1 produces is handed to Process 2 as its input.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5262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3657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1"/>
                </a:solidFill>
              </a:rPr>
              <a:t>PROCESS 1: THE PRODUCER</a:t>
            </a:r>
            <a:endParaRPr lang="en-US" sz="3400" dirty="0"/>
          </a:p>
        </p:txBody>
      </p:sp>
      <p:sp>
        <p:nvSpPr>
          <p:cNvPr id="3" name="Producer text"/>
          <p:cNvSpPr txBox="1"/>
          <p:nvPr/>
        </p:nvSpPr>
        <p:spPr>
          <a:xfrm>
            <a:off x="822960" y="14630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Runs the first command and captures its output.</a:t>
            </a:r>
            <a:endParaRPr lang="en-US" sz="16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That output is what travels through the pipe.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Simulated files: notes.txt, names.txt, main.c, pipeline.c, report.txt</a:t>
            </a:r>
            <a:endParaRPr lang="en-US" sz="1600" dirty="0"/>
          </a:p>
        </p:txBody>
      </p:sp>
      <p:sp>
        <p:nvSpPr>
          <p:cNvPr id="4" name="Chips label"/>
          <p:cNvSpPr txBox="1"/>
          <p:nvPr/>
        </p:nvSpPr>
        <p:spPr>
          <a:xfrm>
            <a:off x="47548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Supported commands</a:t>
            </a:r>
            <a:endParaRPr lang="en-US" sz="1400" dirty="0"/>
          </a:p>
        </p:txBody>
      </p:sp>
      <p:sp>
        <p:nvSpPr>
          <p:cNvPr id="5" name="Chip ls"/>
          <p:cNvSpPr/>
          <p:nvPr/>
        </p:nvSpPr>
        <p:spPr>
          <a:xfrm>
            <a:off x="4754880" y="1828800"/>
            <a:ext cx="11430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Chip text ls"/>
          <p:cNvSpPr txBox="1"/>
          <p:nvPr/>
        </p:nvSpPr>
        <p:spPr>
          <a:xfrm>
            <a:off x="4754880" y="18288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400" dirty="0"/>
          </a:p>
        </p:txBody>
      </p:sp>
      <p:sp>
        <p:nvSpPr>
          <p:cNvPr id="7" name="Chip ls -l"/>
          <p:cNvSpPr/>
          <p:nvPr/>
        </p:nvSpPr>
        <p:spPr>
          <a:xfrm>
            <a:off x="6080760" y="1828800"/>
            <a:ext cx="11430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Chip text ls -l"/>
          <p:cNvSpPr txBox="1"/>
          <p:nvPr/>
        </p:nvSpPr>
        <p:spPr>
          <a:xfrm>
            <a:off x="6080760" y="18288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</a:t>
            </a:r>
            <a:endParaRPr lang="en-US" sz="1400" dirty="0"/>
          </a:p>
        </p:txBody>
      </p:sp>
      <p:sp>
        <p:nvSpPr>
          <p:cNvPr id="9" name="Chip pwd"/>
          <p:cNvSpPr/>
          <p:nvPr/>
        </p:nvSpPr>
        <p:spPr>
          <a:xfrm>
            <a:off x="7406640" y="1828800"/>
            <a:ext cx="11430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Chip text pwd"/>
          <p:cNvSpPr txBox="1"/>
          <p:nvPr/>
        </p:nvSpPr>
        <p:spPr>
          <a:xfrm>
            <a:off x="7406640" y="18288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400" dirty="0"/>
          </a:p>
        </p:txBody>
      </p:sp>
      <p:sp>
        <p:nvSpPr>
          <p:cNvPr id="11" name="Chip whoami"/>
          <p:cNvSpPr/>
          <p:nvPr/>
        </p:nvSpPr>
        <p:spPr>
          <a:xfrm>
            <a:off x="4754880" y="2560320"/>
            <a:ext cx="11430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Chip text whoami"/>
          <p:cNvSpPr txBox="1"/>
          <p:nvPr/>
        </p:nvSpPr>
        <p:spPr>
          <a:xfrm>
            <a:off x="4754880" y="25603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</a:t>
            </a:r>
            <a:endParaRPr lang="en-US" sz="1400" dirty="0"/>
          </a:p>
        </p:txBody>
      </p:sp>
      <p:sp>
        <p:nvSpPr>
          <p:cNvPr id="13" name="Chip date"/>
          <p:cNvSpPr/>
          <p:nvPr/>
        </p:nvSpPr>
        <p:spPr>
          <a:xfrm>
            <a:off x="6080760" y="2560320"/>
            <a:ext cx="11430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Chip text date"/>
          <p:cNvSpPr txBox="1"/>
          <p:nvPr/>
        </p:nvSpPr>
        <p:spPr>
          <a:xfrm>
            <a:off x="6080760" y="25603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400" dirty="0"/>
          </a:p>
        </p:txBody>
      </p:sp>
      <p:sp>
        <p:nvSpPr>
          <p:cNvPr id="15" name="Chip echo"/>
          <p:cNvSpPr/>
          <p:nvPr/>
        </p:nvSpPr>
        <p:spPr>
          <a:xfrm>
            <a:off x="7406640" y="2560320"/>
            <a:ext cx="11430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Chip text echo"/>
          <p:cNvSpPr txBox="1"/>
          <p:nvPr/>
        </p:nvSpPr>
        <p:spPr>
          <a:xfrm>
            <a:off x="7406640" y="25603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endParaRPr lang="en-US" sz="1400" dirty="0"/>
          </a:p>
        </p:txBody>
      </p:sp>
      <p:sp>
        <p:nvSpPr>
          <p:cNvPr id="17" name="Chip cat"/>
          <p:cNvSpPr/>
          <p:nvPr/>
        </p:nvSpPr>
        <p:spPr>
          <a:xfrm>
            <a:off x="4754880" y="3291840"/>
            <a:ext cx="11430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Chip text cat"/>
          <p:cNvSpPr txBox="1"/>
          <p:nvPr/>
        </p:nvSpPr>
        <p:spPr>
          <a:xfrm>
            <a:off x="4754880" y="32918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5262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3657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1"/>
                </a:solidFill>
              </a:rPr>
              <a:t>PROCESS 2: THE CONSUMER</a:t>
            </a:r>
            <a:endParaRPr lang="en-US" sz="3400" dirty="0"/>
          </a:p>
        </p:txBody>
      </p:sp>
      <p:sp>
        <p:nvSpPr>
          <p:cNvPr id="3" name="Filter card grep"/>
          <p:cNvSpPr/>
          <p:nvPr/>
        </p:nvSpPr>
        <p:spPr>
          <a:xfrm>
            <a:off x="822960" y="137160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Filter text grep"/>
          <p:cNvSpPr txBox="1"/>
          <p:nvPr/>
        </p:nvSpPr>
        <p:spPr>
          <a:xfrm>
            <a:off x="1005840" y="1371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keep lines matching a pattern</a:t>
            </a:r>
            <a:endParaRPr lang="en-US" sz="1400" dirty="0"/>
          </a:p>
        </p:txBody>
      </p:sp>
      <p:sp>
        <p:nvSpPr>
          <p:cNvPr id="5" name="Filter card wc"/>
          <p:cNvSpPr/>
          <p:nvPr/>
        </p:nvSpPr>
        <p:spPr>
          <a:xfrm>
            <a:off x="3383280" y="137160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Filter text wc"/>
          <p:cNvSpPr txBox="1"/>
          <p:nvPr/>
        </p:nvSpPr>
        <p:spPr>
          <a:xfrm>
            <a:off x="3566160" y="1371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wc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count lines, words, characters</a:t>
            </a:r>
            <a:endParaRPr lang="en-US" sz="1400" dirty="0"/>
          </a:p>
        </p:txBody>
      </p:sp>
      <p:sp>
        <p:nvSpPr>
          <p:cNvPr id="7" name="Filter card sort"/>
          <p:cNvSpPr/>
          <p:nvPr/>
        </p:nvSpPr>
        <p:spPr>
          <a:xfrm>
            <a:off x="5943600" y="137160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Filter text sort"/>
          <p:cNvSpPr txBox="1"/>
          <p:nvPr/>
        </p:nvSpPr>
        <p:spPr>
          <a:xfrm>
            <a:off x="6126480" y="1371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order lines alphabetically</a:t>
            </a:r>
            <a:endParaRPr lang="en-US" sz="1400" dirty="0"/>
          </a:p>
        </p:txBody>
      </p:sp>
      <p:sp>
        <p:nvSpPr>
          <p:cNvPr id="9" name="Filter card head / tail"/>
          <p:cNvSpPr/>
          <p:nvPr/>
        </p:nvSpPr>
        <p:spPr>
          <a:xfrm>
            <a:off x="822960" y="237744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Filter text head / tail"/>
          <p:cNvSpPr txBox="1"/>
          <p:nvPr/>
        </p:nvSpPr>
        <p:spPr>
          <a:xfrm>
            <a:off x="1005840" y="23774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/ tail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first or last N lines</a:t>
            </a:r>
            <a:endParaRPr lang="en-US" sz="1400" dirty="0"/>
          </a:p>
        </p:txBody>
      </p:sp>
      <p:sp>
        <p:nvSpPr>
          <p:cNvPr id="11" name="Filter card uniq"/>
          <p:cNvSpPr/>
          <p:nvPr/>
        </p:nvSpPr>
        <p:spPr>
          <a:xfrm>
            <a:off x="3383280" y="237744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Filter text uniq"/>
          <p:cNvSpPr txBox="1"/>
          <p:nvPr/>
        </p:nvSpPr>
        <p:spPr>
          <a:xfrm>
            <a:off x="3566160" y="23774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drop repeated adjacent lines</a:t>
            </a:r>
            <a:endParaRPr lang="en-US" sz="1400" dirty="0"/>
          </a:p>
        </p:txBody>
      </p:sp>
      <p:sp>
        <p:nvSpPr>
          <p:cNvPr id="13" name="Filter card rev"/>
          <p:cNvSpPr/>
          <p:nvPr/>
        </p:nvSpPr>
        <p:spPr>
          <a:xfrm>
            <a:off x="5943600" y="237744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Filter text rev"/>
          <p:cNvSpPr txBox="1"/>
          <p:nvPr/>
        </p:nvSpPr>
        <p:spPr>
          <a:xfrm>
            <a:off x="6126480" y="23774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reverse each line</a:t>
            </a:r>
            <a:endParaRPr lang="en-US" sz="1400" dirty="0"/>
          </a:p>
        </p:txBody>
      </p:sp>
      <p:sp>
        <p:nvSpPr>
          <p:cNvPr id="15" name="Filter card tr a-z A-Z"/>
          <p:cNvSpPr/>
          <p:nvPr/>
        </p:nvSpPr>
        <p:spPr>
          <a:xfrm>
            <a:off x="822960" y="338328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Filter text tr a-z A-Z"/>
          <p:cNvSpPr txBox="1"/>
          <p:nvPr/>
        </p:nvSpPr>
        <p:spPr>
          <a:xfrm>
            <a:off x="1005840" y="33832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a-z A-Z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convert to uppercase</a:t>
            </a:r>
            <a:endParaRPr lang="en-US" sz="1400" dirty="0"/>
          </a:p>
        </p:txBody>
      </p:sp>
      <p:sp>
        <p:nvSpPr>
          <p:cNvPr id="17" name="Filter card cat"/>
          <p:cNvSpPr/>
          <p:nvPr/>
        </p:nvSpPr>
        <p:spPr>
          <a:xfrm>
            <a:off x="3383280" y="338328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Filter text cat"/>
          <p:cNvSpPr txBox="1"/>
          <p:nvPr/>
        </p:nvSpPr>
        <p:spPr>
          <a:xfrm>
            <a:off x="3566160" y="33832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pass input through</a:t>
            </a:r>
            <a:endParaRPr lang="en-US" sz="1400" dirty="0"/>
          </a:p>
        </p:txBody>
      </p:sp>
      <p:sp>
        <p:nvSpPr>
          <p:cNvPr id="19" name="Filter card echo"/>
          <p:cNvSpPr/>
          <p:nvPr/>
        </p:nvSpPr>
        <p:spPr>
          <a:xfrm>
            <a:off x="5943600" y="338328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Filter text echo"/>
          <p:cNvSpPr txBox="1"/>
          <p:nvPr/>
        </p:nvSpPr>
        <p:spPr>
          <a:xfrm>
            <a:off x="6126480" y="33832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print its own text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5262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3657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1"/>
                </a:solidFill>
              </a:rPr>
              <a:t>UNDER THE HOOD: REAL UNIX</a:t>
            </a:r>
            <a:endParaRPr lang="en-US" sz="3400" dirty="0"/>
          </a:p>
        </p:txBody>
      </p:sp>
      <p:sp>
        <p:nvSpPr>
          <p:cNvPr id="3" name="Step connector"/>
          <p:cNvSpPr/>
          <p:nvPr/>
        </p:nvSpPr>
        <p:spPr>
          <a:xfrm>
            <a:off x="1417320" y="1783080"/>
            <a:ext cx="630936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4" name="Step circle 1"/>
          <p:cNvSpPr/>
          <p:nvPr/>
        </p:nvSpPr>
        <p:spPr>
          <a:xfrm>
            <a:off x="1234440" y="155448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12344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 text 1"/>
          <p:cNvSpPr txBox="1"/>
          <p:nvPr/>
        </p:nvSpPr>
        <p:spPr>
          <a:xfrm>
            <a:off x="731520" y="22402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pipe()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Create a read and write channel</a:t>
            </a:r>
            <a:endParaRPr lang="en-US" sz="1600" dirty="0"/>
          </a:p>
        </p:txBody>
      </p:sp>
      <p:sp>
        <p:nvSpPr>
          <p:cNvPr id="7" name="Step circle 2"/>
          <p:cNvSpPr/>
          <p:nvPr/>
        </p:nvSpPr>
        <p:spPr>
          <a:xfrm>
            <a:off x="2788920" y="155448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Step number 2"/>
          <p:cNvSpPr txBox="1"/>
          <p:nvPr/>
        </p:nvSpPr>
        <p:spPr>
          <a:xfrm>
            <a:off x="27889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Step text 2"/>
          <p:cNvSpPr txBox="1"/>
          <p:nvPr/>
        </p:nvSpPr>
        <p:spPr>
          <a:xfrm>
            <a:off x="2286000" y="22402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Spawn two child processes</a:t>
            </a:r>
            <a:endParaRPr lang="en-US" sz="1600" dirty="0"/>
          </a:p>
        </p:txBody>
      </p:sp>
      <p:sp>
        <p:nvSpPr>
          <p:cNvPr id="10" name="Step circle 3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Step number 3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Step text 3"/>
          <p:cNvSpPr txBox="1"/>
          <p:nvPr/>
        </p:nvSpPr>
        <p:spPr>
          <a:xfrm>
            <a:off x="3840480" y="22402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dup2()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Redirect stdout and stdin to the pipe</a:t>
            </a:r>
            <a:endParaRPr lang="en-US" sz="1600" dirty="0"/>
          </a:p>
        </p:txBody>
      </p:sp>
      <p:sp>
        <p:nvSpPr>
          <p:cNvPr id="13" name="Step circle 4"/>
          <p:cNvSpPr/>
          <p:nvPr/>
        </p:nvSpPr>
        <p:spPr>
          <a:xfrm>
            <a:off x="5897880" y="155448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Step number 4"/>
          <p:cNvSpPr txBox="1"/>
          <p:nvPr/>
        </p:nvSpPr>
        <p:spPr>
          <a:xfrm>
            <a:off x="58978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Step text 4"/>
          <p:cNvSpPr txBox="1"/>
          <p:nvPr/>
        </p:nvSpPr>
        <p:spPr>
          <a:xfrm>
            <a:off x="5394960" y="22402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exec()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Replace each child with its command</a:t>
            </a:r>
            <a:endParaRPr lang="en-US" sz="1600" dirty="0"/>
          </a:p>
        </p:txBody>
      </p:sp>
      <p:sp>
        <p:nvSpPr>
          <p:cNvPr id="16" name="Step circle 5"/>
          <p:cNvSpPr/>
          <p:nvPr/>
        </p:nvSpPr>
        <p:spPr>
          <a:xfrm>
            <a:off x="7452360" y="155448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Step number 5"/>
          <p:cNvSpPr txBox="1"/>
          <p:nvPr/>
        </p:nvSpPr>
        <p:spPr>
          <a:xfrm>
            <a:off x="7452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Step text 5"/>
          <p:cNvSpPr txBox="1"/>
          <p:nvPr/>
        </p:nvSpPr>
        <p:spPr>
          <a:xfrm>
            <a:off x="6949440" y="22402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wait()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Parent waits for both to finish</a:t>
            </a:r>
            <a:endParaRPr lang="en-US" sz="1600" dirty="0"/>
          </a:p>
        </p:txBody>
      </p:sp>
      <p:sp>
        <p:nvSpPr>
          <p:cNvPr id="19" name="Simulation note"/>
          <p:cNvSpPr txBox="1"/>
          <p:nvPr/>
        </p:nvSpPr>
        <p:spPr>
          <a:xfrm>
            <a:off x="822960" y="36576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Our web demo simulates this flow. These are the OS calls a real shell makes for cmd1 | cmd2.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5262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3657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1"/>
                </a:solidFill>
              </a:rPr>
              <a:t>RESULT</a:t>
            </a:r>
            <a:endParaRPr lang="en-US" sz="3400" dirty="0"/>
          </a:p>
        </p:txBody>
      </p:sp>
      <p:sp>
        <p:nvSpPr>
          <p:cNvPr id="3" name="Result card 1"/>
          <p:cNvSpPr/>
          <p:nvPr/>
        </p:nvSpPr>
        <p:spPr>
          <a:xfrm>
            <a:off x="731520" y="1371600"/>
            <a:ext cx="2377440" cy="292608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Result badge 1"/>
          <p:cNvSpPr/>
          <p:nvPr/>
        </p:nvSpPr>
        <p:spPr>
          <a:xfrm>
            <a:off x="960120" y="160020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Result badge number 1"/>
          <p:cNvSpPr txBox="1"/>
          <p:nvPr/>
        </p:nvSpPr>
        <p:spPr>
          <a:xfrm>
            <a:off x="9601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Result text 1"/>
          <p:cNvSpPr txBox="1"/>
          <p:nvPr/>
        </p:nvSpPr>
        <p:spPr>
          <a:xfrm>
            <a:off x="960120" y="228600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Pipeline works end to end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Output of Process 1 becomes the input of Process 2 and the final result appears instantly.</a:t>
            </a:r>
            <a:endParaRPr lang="en-US" sz="1800" dirty="0"/>
          </a:p>
        </p:txBody>
      </p:sp>
      <p:sp>
        <p:nvSpPr>
          <p:cNvPr id="7" name="Result card 2"/>
          <p:cNvSpPr/>
          <p:nvPr/>
        </p:nvSpPr>
        <p:spPr>
          <a:xfrm>
            <a:off x="3383280" y="1371600"/>
            <a:ext cx="2377440" cy="292608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Result badge 2"/>
          <p:cNvSpPr/>
          <p:nvPr/>
        </p:nvSpPr>
        <p:spPr>
          <a:xfrm>
            <a:off x="3611880" y="160020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Result badge number 2"/>
          <p:cNvSpPr txBox="1"/>
          <p:nvPr/>
        </p:nvSpPr>
        <p:spPr>
          <a:xfrm>
            <a:off x="36118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Result text 2"/>
          <p:cNvSpPr txBox="1"/>
          <p:nvPr/>
        </p:nvSpPr>
        <p:spPr>
          <a:xfrm>
            <a:off x="3611880" y="228600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Every stage is visible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Pipe data and final output are printed together, so the data flow is easy to follow.</a:t>
            </a:r>
            <a:endParaRPr lang="en-US" sz="1800" dirty="0"/>
          </a:p>
        </p:txBody>
      </p:sp>
      <p:sp>
        <p:nvSpPr>
          <p:cNvPr id="11" name="Result card 3"/>
          <p:cNvSpPr/>
          <p:nvPr/>
        </p:nvSpPr>
        <p:spPr>
          <a:xfrm>
            <a:off x="6035040" y="1371600"/>
            <a:ext cx="2377440" cy="292608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Result badge 3"/>
          <p:cNvSpPr/>
          <p:nvPr/>
        </p:nvSpPr>
        <p:spPr>
          <a:xfrm>
            <a:off x="6263640" y="160020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Result badge number 3"/>
          <p:cNvSpPr txBox="1"/>
          <p:nvPr/>
        </p:nvSpPr>
        <p:spPr>
          <a:xfrm>
            <a:off x="6263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Result text 3"/>
          <p:cNvSpPr txBox="1"/>
          <p:nvPr/>
        </p:nvSpPr>
        <p:spPr>
          <a:xfrm>
            <a:off x="6263640" y="228600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Errors handled gracefully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Missing operands, bad patterns and unsupported commands return clear messages.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5262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3657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Conclusion card 1"/>
          <p:cNvSpPr/>
          <p:nvPr/>
        </p:nvSpPr>
        <p:spPr>
          <a:xfrm>
            <a:off x="731520" y="1371600"/>
            <a:ext cx="3749040" cy="292608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Conclusion heading 1"/>
          <p:cNvSpPr txBox="1"/>
          <p:nvPr/>
        </p:nvSpPr>
        <p:spPr>
          <a:xfrm>
            <a:off x="100584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we built</a:t>
            </a:r>
            <a:endParaRPr lang="en-US" sz="2000" dirty="0"/>
          </a:p>
        </p:txBody>
      </p:sp>
      <p:sp>
        <p:nvSpPr>
          <p:cNvPr id="5" name="Conclusion bullets 1"/>
          <p:cNvSpPr txBox="1"/>
          <p:nvPr/>
        </p:nvSpPr>
        <p:spPr>
          <a:xfrm>
            <a:off x="1005840" y="214884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two-stage pipeline: Process 1, pipe, Process 2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 interactive page for any supported command pair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Stage-by-stage output with helpful errors</a:t>
            </a:r>
            <a:endParaRPr lang="en-US" sz="1400" dirty="0"/>
          </a:p>
        </p:txBody>
      </p:sp>
      <p:sp>
        <p:nvSpPr>
          <p:cNvPr id="6" name="Conclusion card 2"/>
          <p:cNvSpPr/>
          <p:nvPr/>
        </p:nvSpPr>
        <p:spPr>
          <a:xfrm>
            <a:off x="4663440" y="1371600"/>
            <a:ext cx="3749040" cy="292608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Conclusion heading 2"/>
          <p:cNvSpPr txBox="1"/>
          <p:nvPr/>
        </p:nvSpPr>
        <p:spPr>
          <a:xfrm>
            <a:off x="49377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8" name="Conclusion bullets 2"/>
          <p:cNvSpPr txBox="1"/>
          <p:nvPr/>
        </p:nvSpPr>
        <p:spPr>
          <a:xfrm>
            <a:off x="4937760" y="214884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Chain three or more commands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Port the logic to C with pipe(), fork(), dup2(), exec()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 commands on a real file system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5262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TR dark"/>
          <p:cNvSpPr/>
          <p:nvPr/>
        </p:nvSpPr>
        <p:spPr>
          <a:xfrm rot="10800000">
            <a:off x="7178040" y="0"/>
            <a:ext cx="1965960" cy="1097280"/>
          </a:xfrm>
          <a:prstGeom prst="rtTriangl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orner TR light"/>
          <p:cNvSpPr/>
          <p:nvPr/>
        </p:nvSpPr>
        <p:spPr>
          <a:xfrm rot="10800000">
            <a:off x="7315200" y="0"/>
            <a:ext cx="1828800" cy="1005840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Corner BL dark"/>
          <p:cNvSpPr/>
          <p:nvPr/>
        </p:nvSpPr>
        <p:spPr>
          <a:xfrm>
            <a:off x="0" y="4046220"/>
            <a:ext cx="1965960" cy="1097280"/>
          </a:xfrm>
          <a:prstGeom prst="rtTriangl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orner BL light"/>
          <p:cNvSpPr/>
          <p:nvPr/>
        </p:nvSpPr>
        <p:spPr>
          <a:xfrm>
            <a:off x="0" y="4137660"/>
            <a:ext cx="1828800" cy="1005840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66878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7" name="Subtitle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8" name="Repo pill"/>
          <p:cNvSpPr/>
          <p:nvPr/>
        </p:nvSpPr>
        <p:spPr>
          <a:xfrm>
            <a:off x="2053883" y="3703320"/>
            <a:ext cx="5124157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r>
              <a:rPr lang="en-IN" sz="1200" dirty="0">
                <a:hlinkClick r:id="rId3"/>
              </a:rPr>
              <a:t>vishnupriya-255/</a:t>
            </a:r>
            <a:r>
              <a:rPr lang="en-IN" sz="1200" dirty="0" err="1">
                <a:hlinkClick r:id="rId3"/>
              </a:rPr>
              <a:t>os_hackathon_Multi</a:t>
            </a:r>
            <a:r>
              <a:rPr lang="en-IN" sz="1200" dirty="0">
                <a:hlinkClick r:id="rId3"/>
              </a:rPr>
              <a:t>-Process-Command-Pipeline-System</a:t>
            </a:r>
            <a:endParaRPr lang="en-IN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y Minimal OS">
  <a:themeElements>
    <a:clrScheme name="Grey Minimal OS">
      <a:dk1>
        <a:srgbClr val="3F3F3F"/>
      </a:dk1>
      <a:lt1>
        <a:srgbClr val="FFFFFF"/>
      </a:lt1>
      <a:dk2>
        <a:srgbClr val="737373"/>
      </a:dk2>
      <a:lt2>
        <a:srgbClr val="E9E9E9"/>
      </a:lt2>
      <a:accent1>
        <a:srgbClr val="3F3F3F"/>
      </a:accent1>
      <a:accent2>
        <a:srgbClr val="737373"/>
      </a:accent2>
      <a:accent3>
        <a:srgbClr val="A6A6A6"/>
      </a:accent3>
      <a:accent4>
        <a:srgbClr val="D4D4D4"/>
      </a:accent4>
      <a:accent5>
        <a:srgbClr val="7FD1B9"/>
      </a:accent5>
      <a:accent6>
        <a:srgbClr val="555555"/>
      </a:accent6>
      <a:hlink>
        <a:srgbClr val="3F3F3F"/>
      </a:hlink>
      <a:folHlink>
        <a:srgbClr val="737373"/>
      </a:folHlink>
    </a:clrScheme>
    <a:fontScheme name="Grey Minimal O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731</Words>
  <Application>Microsoft Office PowerPoint</Application>
  <PresentationFormat>On-screen Show (16:9)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Grey Minimal OS</vt:lpstr>
      <vt:lpstr>MULTI-PROCESS COMMAND PIPELINE SYSTEM</vt:lpstr>
      <vt:lpstr>BACKGROUND</vt:lpstr>
      <vt:lpstr>PROJECT GOALS</vt:lpstr>
      <vt:lpstr>HOW IT WORKS</vt:lpstr>
      <vt:lpstr>PROCESS 1: THE PRODUCER</vt:lpstr>
      <vt:lpstr>PROCESS 2: THE CONSUMER</vt:lpstr>
      <vt:lpstr>UNDER THE HOOD: REAL UNIX</vt:lpstr>
      <vt:lpstr>RESULT</vt:lpstr>
      <vt:lpstr>CONCLUSION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Multi-Process Command Pipeline System</dc:title>
  <dc:subject>PptxGenJS Presentation</dc:subject>
  <dc:creator>PptxGenJS</dc:creator>
  <cp:lastModifiedBy>moukthika vungarala</cp:lastModifiedBy>
  <cp:revision>3</cp:revision>
  <dcterms:created xsi:type="dcterms:W3CDTF">2026-10-16T15:26:38Z</dcterms:created>
  <dcterms:modified xsi:type="dcterms:W3CDTF">2026-10-16T15:39:22Z</dcterms:modified>
</cp:coreProperties>
</file>